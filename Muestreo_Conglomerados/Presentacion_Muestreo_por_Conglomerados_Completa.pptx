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Frecuencia</c:v>
                </c:pt>
              </c:strCache>
            </c:strRef>
          </c:tx>
          <c:spPr>
            <a:solidFill>
              <a:srgbClr val="2D7D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7D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9B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5AAB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DC8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5AAB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9BA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[2,4–2,8)</c:v>
                  </c:pt>
                  <c:pt idx="1">
                    <c:v>[2,8–3,2)</c:v>
                  </c:pt>
                  <c:pt idx="2">
                    <c:v>[3,2–3,6)</c:v>
                  </c:pt>
                  <c:pt idx="3">
                    <c:v>[3,6–4,0)</c:v>
                  </c:pt>
                  <c:pt idx="4">
                    <c:v>[4,0–4,4)</c:v>
                  </c:pt>
                  <c:pt idx="5">
                    <c:v>[4,4–4,8)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7</c:v>
                </c:pt>
                <c:pt idx="3">
                  <c:v>11</c:v>
                </c:pt>
                <c:pt idx="4">
                  <c:v>10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Intervalo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Frecuencia absoluta (fᵢ)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y Estadística — Universidad Distrital Francisco José de Caldas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Muestreo por</a:t>
            </a:r>
            <a:endParaRPr lang="en-US" sz="7200" dirty="0"/>
          </a:p>
          <a:p>
            <a:pPr algn="ctr" indent="0" marL="0">
              <a:buNone/>
            </a:pPr>
            <a:r>
              <a:rPr lang="en-US" sz="7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Conglomerados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en un Contexto Real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Rendimiento Académico — Ingeniería de Sistemas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4023360"/>
            <a:ext cx="6400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Sandoval - 20241020078 | Brayan Santos - 20252020157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y Estadística · Universidad Distrital Francisco José de Caldas · Profesor: Alberto Acosta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Origen del Muestreo por Conglomerados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3931920" cy="658368"/>
          </a:xfrm>
          <a:prstGeom prst="rect">
            <a:avLst/>
          </a:prstGeom>
          <a:solidFill>
            <a:srgbClr val="C8E0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282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Estadísticos soviéticos emplean grupos naturales (aldeas) como unidades de muestreo en censos agrícolas, sentando las bases del método.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468880"/>
            <a:ext cx="3931920" cy="658368"/>
          </a:xfrm>
          <a:prstGeom prst="rect">
            <a:avLst/>
          </a:prstGeom>
          <a:solidFill>
            <a:srgbClr val="D8F0D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054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1930s – 1940s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Morris Hansen y William Hurwitz (US Census Bureau) formalizan la teoría y la aplican al censo estadounidense de 1940.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3246120"/>
            <a:ext cx="3931920" cy="658368"/>
          </a:xfrm>
          <a:prstGeom prst="rect">
            <a:avLst/>
          </a:prstGeom>
          <a:solidFill>
            <a:srgbClr val="F0E8C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826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 – 1970s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FAO y organismos internacionales adoptan el método para estudios de salud y nutrición en regiones con poblaciones dispersas.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4023360"/>
            <a:ext cx="3931920" cy="658368"/>
          </a:xfrm>
          <a:prstGeom prst="rect">
            <a:avLst/>
          </a:prstGeom>
          <a:solidFill>
            <a:srgbClr val="E8D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59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Actualidad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estándar en encuestas nacionales, estudios epidemiológicos y cualquier contexto académico con grupos preexistentes.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691640"/>
            <a:ext cx="4023360" cy="3063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Clave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0848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Morris Hansen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800600" y="2615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 del US Census Bureau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926080"/>
            <a:ext cx="3566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9744" y="3063240"/>
            <a:ext cx="109728" cy="109728"/>
          </a:xfrm>
          <a:prstGeom prst="ellipse">
            <a:avLst/>
          </a:prstGeom>
          <a:solidFill>
            <a:srgbClr val="F0D060"/>
          </a:solidFill>
          <a:ln w="6350">
            <a:solidFill>
              <a:srgbClr val="E0C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3017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Desarrolló la teoría del muestreo probabilístico en múltiples etapas.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9744" y="3520440"/>
            <a:ext cx="109728" cy="109728"/>
          </a:xfrm>
          <a:prstGeom prst="ellipse">
            <a:avLst/>
          </a:prstGeom>
          <a:solidFill>
            <a:srgbClr val="F0D060"/>
          </a:solidFill>
          <a:ln w="6350">
            <a:solidFill>
              <a:srgbClr val="E0C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3474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Aplicó el muestreo por conglomerados al censo de EE.UU. (1940).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9744" y="3977640"/>
            <a:ext cx="109728" cy="109728"/>
          </a:xfrm>
          <a:prstGeom prst="ellipse">
            <a:avLst/>
          </a:prstGeom>
          <a:solidFill>
            <a:srgbClr val="F0D060"/>
          </a:solidFill>
          <a:ln w="6350">
            <a:solidFill>
              <a:srgbClr val="E0C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3931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Co-autor de Sampling Survey Methods and Theory (1953), obra de referencia mundial.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¿Quiénes desarrollaron esta técnica?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1554480"/>
            <a:ext cx="2651760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54480"/>
            <a:ext cx="2651760" cy="457200"/>
          </a:xfrm>
          <a:prstGeom prst="rect">
            <a:avLst/>
          </a:prstGeom>
          <a:solidFill>
            <a:srgbClr val="C8E0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1609344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6093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P.C. Mahalanobis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 indio · 1893–1972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23774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3580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Pionero del muestreo a gran escala en India. Diseñó las primeras encuestas por conglomerados para medir rendimientos de cosechas.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554480"/>
            <a:ext cx="2651760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554480"/>
            <a:ext cx="2651760" cy="457200"/>
          </a:xfrm>
          <a:prstGeom prst="rect">
            <a:avLst/>
          </a:prstGeom>
          <a:solidFill>
            <a:srgbClr val="D8F0D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1609344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16093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084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Hansen &amp; Hurwitz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Census Bureau · 1940s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83280" y="2944368"/>
            <a:ext cx="23774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03580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Formalizaron la teoría matemática del método y la aplicaron al censo estadounidense, estableciendo los fundamentos modernos.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1554480"/>
            <a:ext cx="2651760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554480"/>
            <a:ext cx="2651760" cy="457200"/>
          </a:xfrm>
          <a:prstGeom prst="rect">
            <a:avLst/>
          </a:prstGeom>
          <a:solidFill>
            <a:srgbClr val="F0E8C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1609344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16093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2084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William Cochran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 británico · 1909–1980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2944368"/>
            <a:ext cx="23774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03580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Sistematizó el método en Sampling Techniques, el texto más citado en estadística de encuestas del siglo XX.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Características del Método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73152" cy="804672"/>
          </a:xfrm>
          <a:prstGeom prst="rect">
            <a:avLst/>
          </a:prstGeom>
          <a:solidFill>
            <a:srgbClr val="C8E0F8"/>
          </a:solidFill>
          <a:ln w="12700">
            <a:solidFill>
              <a:srgbClr val="C8E0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5636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naturales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población se divide en conglomerados que ya existen (semestres, barrios, escuelas), no se crean artificialmente.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508760"/>
            <a:ext cx="73152" cy="804672"/>
          </a:xfrm>
          <a:prstGeom prst="rect">
            <a:avLst/>
          </a:prstGeom>
          <a:solidFill>
            <a:srgbClr val="D8F0D8"/>
          </a:solidFill>
          <a:ln w="12700">
            <a:solidFill>
              <a:srgbClr val="D8F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5636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aleatoria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5192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conglomerados se eligen al azar, garantizando que cada grupo tenga la misma probabilidad de ser seleccionado.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514600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514600"/>
            <a:ext cx="73152" cy="804672"/>
          </a:xfrm>
          <a:prstGeom prst="rect">
            <a:avLst/>
          </a:prstGeom>
          <a:solidFill>
            <a:srgbClr val="F0E8C8"/>
          </a:solidFill>
          <a:ln w="12700">
            <a:solidFill>
              <a:srgbClr val="F0E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56946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elementos incluidos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" y="2834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elegido un conglomerado, todos sus miembros forman parte de la muestra (muestreo de una etapa).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514600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514600"/>
            <a:ext cx="73152" cy="804672"/>
          </a:xfrm>
          <a:prstGeom prst="rect">
            <a:avLst/>
          </a:prstGeom>
          <a:solidFill>
            <a:srgbClr val="E8D0F0"/>
          </a:solidFill>
          <a:ln w="12700">
            <a:solidFill>
              <a:srgbClr val="E8D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256946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logística y económica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5192" y="2834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costos y tiempos: en lugar de contactar individuos dispersos, se accede a grupos completos en menos visitas.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520440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520440"/>
            <a:ext cx="73152" cy="804672"/>
          </a:xfrm>
          <a:prstGeom prst="rect">
            <a:avLst/>
          </a:prstGeom>
          <a:solidFill>
            <a:srgbClr val="F0D8D8"/>
          </a:solidFill>
          <a:ln w="12700">
            <a:solidFill>
              <a:srgbClr val="F0D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57530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 interna ideal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" y="3840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conglomerado debe ser heterogéneo internamente y similar entre sí para maximizar la representatividad de la muestra.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3520440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520440"/>
            <a:ext cx="73152" cy="804672"/>
          </a:xfrm>
          <a:prstGeom prst="rect">
            <a:avLst/>
          </a:prstGeom>
          <a:solidFill>
            <a:srgbClr val="D8ECD8"/>
          </a:solidFill>
          <a:ln w="12700">
            <a:solidFill>
              <a:srgbClr val="D8EC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357530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probabilístico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5192" y="3840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calcular errores de muestreo y realizar inferencias estadísticas válidas sobre toda la población.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Pasos para Aplicarlo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673352"/>
            <a:ext cx="420624" cy="420624"/>
          </a:xfrm>
          <a:prstGeom prst="ellipse">
            <a:avLst/>
          </a:prstGeom>
          <a:solidFill>
            <a:srgbClr val="C8E0F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727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 población objetivo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8379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con precisión el universo de estudio, sus límites y las características que definen a sus miembros.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1673352"/>
            <a:ext cx="420624" cy="420624"/>
          </a:xfrm>
          <a:prstGeom prst="ellipse">
            <a:avLst/>
          </a:prstGeom>
          <a:solidFill>
            <a:srgbClr val="D8F0D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5727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conglomerados naturales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18379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qué grupos ya existen en la población (semestres, barrios, hospitales) que servirán como unidades de muestreo.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514600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" y="2679192"/>
            <a:ext cx="420624" cy="420624"/>
          </a:xfrm>
          <a:prstGeom prst="ellipse">
            <a:avLst/>
          </a:prstGeom>
          <a:solidFill>
            <a:srgbClr val="F0E8C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679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5786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y numerar todos los conglomerados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8437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el marco muestral que enumere exhaustivamente todos los conglomerados disponibles en la población.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2514600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0328" y="2679192"/>
            <a:ext cx="420624" cy="420624"/>
          </a:xfrm>
          <a:prstGeom prst="ellipse">
            <a:avLst/>
          </a:prstGeom>
          <a:solidFill>
            <a:srgbClr val="E8D0F0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679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25786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aleatoriamente los conglomerados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28437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sorteo o tabla de números aleatorios para elegir el subconjunto de conglomerados a estudiar.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520440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" y="3685032"/>
            <a:ext cx="420624" cy="420624"/>
          </a:xfrm>
          <a:prstGeom prst="ellipse">
            <a:avLst/>
          </a:prstGeom>
          <a:solidFill>
            <a:srgbClr val="F0D8D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5844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todos los elementos del grupo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8496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en la muestra a todos los individuos de cada conglomerado seleccionado, sin selección adicional interna.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0328" y="3685032"/>
            <a:ext cx="420624" cy="420624"/>
          </a:xfrm>
          <a:prstGeom prst="ellipse">
            <a:avLst/>
          </a:prstGeom>
          <a:solidFill>
            <a:srgbClr val="D8ECD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35844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con los factores de expansión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8496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los estadísticos aplicando factores de expansión si los conglomerados tienen distinto tamaño.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Planteamiento del Problema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8229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72768"/>
            <a:ext cx="73152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es el rendimiento académico de los estudiantes de Ingeniería de Sistemas de la Universidad Distrital?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problema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201168" cy="256032"/>
          </a:xfrm>
          <a:prstGeom prst="rect">
            <a:avLst/>
          </a:prstGeom>
          <a:solidFill>
            <a:srgbClr val="F0D060"/>
          </a:solidFill>
          <a:ln w="12700">
            <a:solidFill>
              <a:srgbClr val="F0D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Estudiar a todos los estudiantes es costoso e impráctico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201168" cy="256032"/>
          </a:xfrm>
          <a:prstGeom prst="rect">
            <a:avLst/>
          </a:prstGeom>
          <a:solidFill>
            <a:srgbClr val="F0D060"/>
          </a:solidFill>
          <a:ln w="12700">
            <a:solidFill>
              <a:srgbClr val="F0D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 una muestra representativa y eficiente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201168" cy="256032"/>
          </a:xfrm>
          <a:prstGeom prst="rect">
            <a:avLst/>
          </a:prstGeom>
          <a:solidFill>
            <a:srgbClr val="F0D060"/>
          </a:solidFill>
          <a:ln w="12700">
            <a:solidFill>
              <a:srgbClr val="F0D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Muestreo por Conglomerados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880360"/>
            <a:ext cx="411480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2999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 estudio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273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académico semestral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3584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Escala: 0,0 a 5,0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8221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 Cuantitativa continua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4114800"/>
            <a:ext cx="3749040" cy="502920"/>
          </a:xfrm>
          <a:prstGeom prst="rect">
            <a:avLst/>
          </a:prstGeom>
          <a:solidFill>
            <a:srgbClr val="C8E0F8"/>
          </a:solidFill>
          <a:ln w="6350">
            <a:solidFill>
              <a:srgbClr val="AACC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4114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 Aprobatorio ≥ 3,0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Definición de la Población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 la población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9319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8F8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110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activos de Ing. Sistemas, semestres I al VI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39319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8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51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761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académico (0,0 – 5,0)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39319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8F0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91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variable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401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Cuantitativa continua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39319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8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313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total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041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72 estudiantes · 6 grupos disponibles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semestre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874520"/>
          <a:ext cx="4023360" cy="292608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Conglo.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Semestre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Semestre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Semestre III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Semestre 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Semestre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Semestre 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CONGLOMERADOS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Definición de Conglomerados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conglomerados son grupos naturales ya formados por la universidad: los semestres del programa.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3291840" cy="2514600"/>
          </a:xfrm>
          <a:prstGeom prst="rect">
            <a:avLst/>
          </a:prstGeom>
          <a:solidFill>
            <a:srgbClr val="D8EEF8"/>
          </a:solidFill>
          <a:ln w="10160">
            <a:solidFill>
              <a:srgbClr val="B8D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son buenos conglomerados?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01168" cy="201168"/>
          </a:xfrm>
          <a:prstGeom prst="rect">
            <a:avLst/>
          </a:prstGeom>
          <a:solidFill>
            <a:srgbClr val="F0D060"/>
          </a:solidFill>
          <a:ln w="12700">
            <a:solidFill>
              <a:srgbClr val="F0D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68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existen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semestres están formados de forma natural e institucional.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01168" cy="201168"/>
          </a:xfrm>
          <a:prstGeom prst="rect">
            <a:avLst/>
          </a:prstGeom>
          <a:solidFill>
            <a:srgbClr val="F0D060"/>
          </a:solidFill>
          <a:ln w="12700">
            <a:solidFill>
              <a:srgbClr val="F0D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62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acceso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172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contactar a un semestre completo en una sola sesión.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201168" cy="201168"/>
          </a:xfrm>
          <a:prstGeom prst="rect">
            <a:avLst/>
          </a:prstGeom>
          <a:solidFill>
            <a:srgbClr val="F0D060"/>
          </a:solidFill>
          <a:ln w="12700">
            <a:solidFill>
              <a:srgbClr val="F0D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5570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naturales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semestre es una unidad coherente y reconocida.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86200" y="18745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población → 6 conglomerados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86200" y="2240280"/>
            <a:ext cx="2011680" cy="594360"/>
          </a:xfrm>
          <a:prstGeom prst="rect">
            <a:avLst/>
          </a:prstGeom>
          <a:solidFill>
            <a:srgbClr val="D8E8F8"/>
          </a:solidFill>
          <a:ln w="10160">
            <a:solidFill>
              <a:srgbClr val="A8C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Semestre 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7764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estudiantes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2240280"/>
            <a:ext cx="2011680" cy="594360"/>
          </a:xfrm>
          <a:prstGeom prst="rect">
            <a:avLst/>
          </a:prstGeom>
          <a:solidFill>
            <a:srgbClr val="B8E8C0"/>
          </a:solidFill>
          <a:ln w="10160">
            <a:solidFill>
              <a:srgbClr val="88C8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Semestre II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estudiantes — SELECCIONADO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86200" y="2926080"/>
            <a:ext cx="2011680" cy="594360"/>
          </a:xfrm>
          <a:prstGeom prst="rect">
            <a:avLst/>
          </a:prstGeom>
          <a:solidFill>
            <a:srgbClr val="D8E8F8"/>
          </a:solidFill>
          <a:ln w="10160">
            <a:solidFill>
              <a:srgbClr val="A8C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· Semestre III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77640" y="3227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estudiantes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2926080"/>
            <a:ext cx="2011680" cy="594360"/>
          </a:xfrm>
          <a:prstGeom prst="rect">
            <a:avLst/>
          </a:prstGeom>
          <a:solidFill>
            <a:srgbClr val="B8E8C0"/>
          </a:solidFill>
          <a:ln w="10160">
            <a:solidFill>
              <a:srgbClr val="88C8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· Semestre IV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3227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estudiantes — SELECCIONADO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86200" y="3611880"/>
            <a:ext cx="2011680" cy="594360"/>
          </a:xfrm>
          <a:prstGeom prst="rect">
            <a:avLst/>
          </a:prstGeom>
          <a:solidFill>
            <a:srgbClr val="D8E8F8"/>
          </a:solidFill>
          <a:ln w="10160">
            <a:solidFill>
              <a:srgbClr val="A8C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· Semestre 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7764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estudiantes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0760" y="3611880"/>
            <a:ext cx="2011680" cy="594360"/>
          </a:xfrm>
          <a:prstGeom prst="rect">
            <a:avLst/>
          </a:prstGeom>
          <a:solidFill>
            <a:srgbClr val="B8E8C0"/>
          </a:solidFill>
          <a:ln w="10160">
            <a:solidFill>
              <a:srgbClr val="88C8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· Semestre VI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estudiantes — SELECCIONADO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MUESTREO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Muestreo por Conglomerados — Definición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solidFill>
            <a:srgbClr val="D8E8F8"/>
          </a:solidFill>
          <a:ln w="10160">
            <a:solidFill>
              <a:srgbClr val="B8C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 Técnica probabilística que divide la población en grupos naturales (conglomerados), selecciona algunos de ellos al azar e incluye TODOS sus elementos en la muestra.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423160"/>
            <a:ext cx="2651760" cy="1554480"/>
          </a:xfrm>
          <a:prstGeom prst="rect">
            <a:avLst/>
          </a:prstGeom>
          <a:solidFill>
            <a:srgbClr val="D8F0C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la población en grupos naturales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semestres → 6 conglomerados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423160"/>
            <a:ext cx="2651760" cy="1554480"/>
          </a:xfrm>
          <a:prstGeom prst="rect">
            <a:avLst/>
          </a:prstGeom>
          <a:solidFill>
            <a:srgbClr val="C8E0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algunos grupos al azar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Sorteo: 3 de 6 semestres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2423160"/>
            <a:ext cx="2651760" cy="1554480"/>
          </a:xfrm>
          <a:prstGeom prst="rect">
            <a:avLst/>
          </a:prstGeom>
          <a:solidFill>
            <a:srgbClr val="F8E8B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todos los elementos del grupo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+ 12 + 12 = 36 estudiantes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33088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Tipo específico: Conglomerados de una sola etapa — sin selección adicional dentro del grupo seleccionado.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103120" cy="25603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MUESTRA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Selección Aleatoria de la Muestra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sorteo aleatorio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16459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Conglomerado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Estudiantes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promedios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Semestre 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Semestre IV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Semestre 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611880"/>
            <a:ext cx="8412480" cy="1280160"/>
          </a:xfrm>
          <a:prstGeom prst="rect">
            <a:avLst/>
          </a:prstGeom>
          <a:solidFill>
            <a:srgbClr val="C8E8C8"/>
          </a:solidFill>
          <a:ln w="10160">
            <a:solidFill>
              <a:srgbClr val="A8CC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3657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A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11480" y="4251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Conglomerados totales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4462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Semestres disponibles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468880" y="3657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A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2468880" y="4251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468880" y="4462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azar mediante sorteo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0" y="3657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A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4572000" y="4251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0" y="4462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grupo: P = 3/6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675120" y="3657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A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675120" y="4251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final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75120" y="4462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36 estudiantes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103120" cy="25603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RECOLECTADOS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— Promedios Académicos de los 36 Estudiantes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 por semestre (escala 0,0 – 5,0 · Aprobatorio ≥ 3,0)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1280160"/>
        </p:xfrm>
        <a:graphic>
          <a:graphicData uri="http://schemas.openxmlformats.org/drawingml/2006/table">
            <a:tbl>
              <a:tblPr/>
              <a:tblGrid>
                <a:gridCol w="633046"/>
                <a:gridCol w="633046"/>
                <a:gridCol w="633046"/>
                <a:gridCol w="633046"/>
                <a:gridCol w="633046"/>
                <a:gridCol w="633046"/>
                <a:gridCol w="633046"/>
                <a:gridCol w="633046"/>
                <a:gridCol w="633046"/>
                <a:gridCol w="633046"/>
                <a:gridCol w="633046"/>
                <a:gridCol w="633046"/>
                <a:gridCol w="633046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ordenados (n = 36)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93008"/>
          <a:ext cx="8229600" cy="100584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5902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* x₁₈ = 3,8 y x₁₉ = 3,8 → posiciones centrales para el cálculo de la mediana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86000" cy="25603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ESTADÍSTICO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Medidas Estadísticas de la Muestra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069080" cy="1508760"/>
          </a:xfrm>
          <a:prstGeom prst="rect">
            <a:avLst/>
          </a:prstGeom>
          <a:solidFill>
            <a:srgbClr val="D8EE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Aritmética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562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= Σxᵢ / 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= 132,1 / 36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8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x̄ = 3,67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6609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académico típico del grupo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069080" cy="1508760"/>
          </a:xfrm>
          <a:prstGeom prst="rect">
            <a:avLst/>
          </a:prstGeom>
          <a:solidFill>
            <a:srgbClr val="D8F0D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600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8562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36 (par)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= (x₁₈ + x₁₉) / 2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= (3,8 + 3,8) /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2258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 = 3,8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00600" y="26609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mitad de los estudiantes tiene nota ≤ 3,8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154680"/>
            <a:ext cx="4069080" cy="1508760"/>
          </a:xfrm>
          <a:prstGeom prst="rect">
            <a:avLst/>
          </a:prstGeom>
          <a:solidFill>
            <a:srgbClr val="F8F0C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46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5021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bimodal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9044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 = 3,8 y 4,0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43068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5 veces cada una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perfiles típicos: rendimiento bueno y alto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4069080" cy="1508760"/>
          </a:xfrm>
          <a:prstGeom prst="rect">
            <a:avLst/>
          </a:prstGeom>
          <a:solidFill>
            <a:srgbClr val="F8E8D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246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5021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= 4,5 − 2,5 = 2,0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Varianza: σ² = 0,24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39044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 = 0,49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00600" y="43068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 moderada — sin notas extremas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Distribución de Frecuencias y Gráfica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frecuencias (k = 6, Sturges · A = 0,4)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[2,4 – 2,8)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[2,8 – 3,2)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[3,2 – 3,6)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[3,6 – 4,0)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[4,0 – 4,4)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[4,4 – 4,8)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C8F0C8"/>
          </a:solidFill>
          <a:ln w="10160">
            <a:solidFill>
              <a:srgbClr val="88CC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46817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Intervalo modal: [3,6 – 4,0) con fᵢ = 11 · 30,56% de los datos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— Frecuencia absoluta por intervalo</a:t>
            </a:r>
            <a:endParaRPr lang="en-US" sz="1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685800"/>
          <a:ext cx="8229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00" cy="25603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· DESVENTAJAS · CONCLUSIONES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 del Método y Conclusiones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Desventajas del Muestreo por Conglomerados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3886200" cy="1417320"/>
          </a:xfrm>
          <a:prstGeom prst="rect">
            <a:avLst/>
          </a:prstGeom>
          <a:solidFill>
            <a:srgbClr val="D8F0D8"/>
          </a:solidFill>
          <a:ln w="10160">
            <a:solidFill>
              <a:srgbClr val="A8C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Fácil aplicación: los grupos ya existen en la universidad.</a:t>
            </a:r>
            <a:endParaRPr 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Bajo costo: se visitan pocos grupos, no a cada persona.</a:t>
            </a:r>
            <a:endParaRPr 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Ahorra tiempo: datos de un semestre en una sola sesión.</a:t>
            </a:r>
            <a:endParaRPr 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Probabilístico: cada grupo tiene igual oportunidad (50%).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3401568"/>
            <a:ext cx="3886200" cy="1463040"/>
          </a:xfrm>
          <a:prstGeom prst="rect">
            <a:avLst/>
          </a:prstGeom>
          <a:solidFill>
            <a:srgbClr val="F8F0C8"/>
          </a:solidFill>
          <a:ln w="10160">
            <a:solidFill>
              <a:srgbClr val="CCA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56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91440" cy="91440"/>
          </a:xfrm>
          <a:prstGeom prst="ellipse">
            <a:avLst/>
          </a:prstGeom>
          <a:solidFill>
            <a:srgbClr val="9A7A1A"/>
          </a:solidFill>
          <a:ln w="12700">
            <a:solidFill>
              <a:srgbClr val="9A7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precisión si los semestres son muy diferentes entre sí.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4005072"/>
            <a:ext cx="91440" cy="91440"/>
          </a:xfrm>
          <a:prstGeom prst="ellipse">
            <a:avLst/>
          </a:prstGeom>
          <a:solidFill>
            <a:srgbClr val="9A7A1A"/>
          </a:solidFill>
          <a:ln w="12700">
            <a:solidFill>
              <a:srgbClr val="9A7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Homogeneidad interna: estudiantes del mismo semestre se parecen.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91440" cy="91440"/>
          </a:xfrm>
          <a:prstGeom prst="ellipse">
            <a:avLst/>
          </a:prstGeom>
          <a:solidFill>
            <a:srgbClr val="9A7A1A"/>
          </a:solidFill>
          <a:ln w="12700">
            <a:solidFill>
              <a:srgbClr val="9A7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224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conglomerados: con 6 grupos la selección puede no ser representativa.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498848"/>
            <a:ext cx="91440" cy="91440"/>
          </a:xfrm>
          <a:prstGeom prst="ellipse">
            <a:avLst/>
          </a:prstGeom>
          <a:solidFill>
            <a:srgbClr val="9A7A1A"/>
          </a:solidFill>
          <a:ln w="12700">
            <a:solidFill>
              <a:srgbClr val="9A7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471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preciso que el estratificado: no se controla la proporción por semestre.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883664"/>
            <a:ext cx="347472" cy="347472"/>
          </a:xfrm>
          <a:prstGeom prst="ellipse">
            <a:avLst/>
          </a:prstGeom>
          <a:solidFill>
            <a:srgbClr val="F8F0B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1883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eficiente de 36 datos sin acceder individualmente a los 72 estudiantes.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478024"/>
            <a:ext cx="347472" cy="347472"/>
          </a:xfrm>
          <a:prstGeom prst="ellipse">
            <a:avLst/>
          </a:prstGeom>
          <a:solidFill>
            <a:srgbClr val="D8E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24780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típico 3,67/5,0 · mediana 3,8 — nivel aprobado y moderadamente bueno.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072384"/>
            <a:ext cx="347472" cy="347472"/>
          </a:xfrm>
          <a:prstGeom prst="ellipse">
            <a:avLst/>
          </a:prstGeom>
          <a:solidFill>
            <a:srgbClr val="E8D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4920" y="30723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bimodal (3,8 y 4,0) sugiere dos perfiles de rendimiento predominantes.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666744"/>
            <a:ext cx="347472" cy="347472"/>
          </a:xfrm>
          <a:prstGeom prst="ellipse">
            <a:avLst/>
          </a:prstGeom>
          <a:solidFill>
            <a:srgbClr val="D8F0D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74920" y="36667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estándar σ = 0,49 → variabilidad moderada, sin notas extremas.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4261104"/>
            <a:ext cx="347472" cy="347472"/>
          </a:xfrm>
          <a:prstGeom prst="ellipse">
            <a:avLst/>
          </a:prstGeom>
          <a:solidFill>
            <a:srgbClr val="F8E8D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74920" y="42611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ideal en contextos educativos con grupos preexistentes, evaluando heterogeneidad interna.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4663440"/>
            <a:ext cx="4023360" cy="347472"/>
          </a:xfrm>
          <a:prstGeom prst="rect">
            <a:avLst/>
          </a:prstGeom>
          <a:solidFill>
            <a:srgbClr val="C8F0C8"/>
          </a:solidFill>
          <a:ln w="6350">
            <a:solidFill>
              <a:srgbClr val="88CC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6817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Ian Sandoval &amp; Brayan Santos · Probabilidad y Estadística · Univ. Distrital · Prof. Alberto Acosta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Muestreo por Conglomerados</dc:title>
  <dc:subject>PptxGenJS Presentation</dc:subject>
  <dc:creator>PptxGenJS</dc:creator>
  <cp:lastModifiedBy>PptxGenJS</cp:lastModifiedBy>
  <cp:revision>1</cp:revision>
  <dcterms:created xsi:type="dcterms:W3CDTF">2026-05-14T00:37:00Z</dcterms:created>
  <dcterms:modified xsi:type="dcterms:W3CDTF">2026-05-14T00:37:00Z</dcterms:modified>
</cp:coreProperties>
</file>